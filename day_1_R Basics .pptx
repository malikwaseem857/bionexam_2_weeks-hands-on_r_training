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82" r:id="rId1"/>
  </p:sldMasterIdLst>
  <p:notesMasterIdLst>
    <p:notesMasterId r:id="rId8"/>
  </p:notesMasterIdLst>
  <p:sldIdLst>
    <p:sldId id="1294" r:id="rId2"/>
    <p:sldId id="1300" r:id="rId3"/>
    <p:sldId id="1298" r:id="rId4"/>
    <p:sldId id="1299" r:id="rId5"/>
    <p:sldId id="1297" r:id="rId6"/>
    <p:sldId id="129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C4C3B4"/>
    <a:srgbClr val="0033CC"/>
    <a:srgbClr val="0827C4"/>
    <a:srgbClr val="0066CC"/>
    <a:srgbClr val="0038EC"/>
    <a:srgbClr val="0099FF"/>
    <a:srgbClr val="6699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48" y="1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7999E-5536-4D60-BA68-5AD9A312C63E}" type="datetimeFigureOut">
              <a:rPr lang="en-GB" smtClean="0"/>
              <a:pPr/>
              <a:t>02/10/2026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33532-9BE3-4F7E-BEEC-5980FFB35F4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846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4CC133E-218F-4797-9481-7CA43C22DDAE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19965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62199-3047-41A1-9287-C26C0ACDAC9A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94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889B3-D7F2-416A-9C6B-951CDDC1DE03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3473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3100E-D540-4F03-ACC6-CF8D04BAC1A8}" type="datetime1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9787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1E54E-2079-4A18-82AA-DA8CA6578D09}" type="datetime1">
              <a:rPr lang="en-GB" smtClean="0"/>
              <a:t>02/10/2026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213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5BE97-88D7-4343-87E7-4DCB00527B96}" type="datetime1">
              <a:rPr lang="en-GB" smtClean="0"/>
              <a:t>02/10/2026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1809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B9D3D-FA91-468E-9547-235F7D2A0253}" type="datetime1">
              <a:rPr lang="en-GB" smtClean="0"/>
              <a:t>02/10/2026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50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CF5F-0390-40DC-A81A-C167B047DCC7}" type="datetime1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5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0FDB0-CE93-4967-8C57-A030599ADBA2}" type="datetime1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muhammad_ali@umt.edu.pk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670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A206D-D43C-46F3-90A0-BBB48742FE18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72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25F3B-C941-416B-BA5D-98028DBDDF61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72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635E2E5B-84CC-4EA3-8878-189B486567D4}" type="datetime1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A6915A3-AC02-48F5-AA30-1F02FE3F8AE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4600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studio.com/products/rstudio/download/" TargetMode="External"/><Relationship Id="rId2" Type="http://schemas.openxmlformats.org/officeDocument/2006/relationships/hyperlink" Target="https://cran.r-project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5285" y="2923958"/>
            <a:ext cx="10667209" cy="956930"/>
          </a:xfrm>
        </p:spPr>
        <p:txBody>
          <a:bodyPr>
            <a:normAutofit/>
          </a:bodyPr>
          <a:lstStyle/>
          <a:p>
            <a:pPr algn="ctr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Basics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77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609" y="57403"/>
            <a:ext cx="11376838" cy="740026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Georgia" panose="02040502050405020303" pitchFamily="18" charset="0"/>
              </a:rPr>
              <a:t>Data Structure</a:t>
            </a:r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488" y="882493"/>
            <a:ext cx="11270512" cy="5975507"/>
          </a:xfrm>
        </p:spPr>
        <p:txBody>
          <a:bodyPr>
            <a:normAutofit lnSpcReduction="10000"/>
          </a:bodyPr>
          <a:lstStyle/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The simplest type of data is </a:t>
            </a:r>
            <a:r>
              <a:rPr lang="en-US" alt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vector</a:t>
            </a: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, which is </a:t>
            </a:r>
            <a:r>
              <a:rPr lang="en-US" alt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one dimensional representation of a string of similar entities</a:t>
            </a:r>
            <a:r>
              <a:rPr lang="en-US" alt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.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An </a:t>
            </a: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example of </a:t>
            </a:r>
            <a:r>
              <a:rPr lang="en-US" alt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vector</a:t>
            </a:r>
            <a:r>
              <a:rPr lang="en-US" altLang="en-US" sz="2400" dirty="0">
                <a:latin typeface="Georgia" panose="02040502050405020303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is this:</a:t>
            </a:r>
            <a:r>
              <a:rPr lang="en-US" altLang="en-US" sz="2400" dirty="0">
                <a:latin typeface="Georgia" panose="02040502050405020303" pitchFamily="18" charset="0"/>
              </a:rPr>
              <a:t> </a:t>
            </a:r>
          </a:p>
          <a:p>
            <a:pPr marL="857250" lvl="1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en-US" sz="2200" dirty="0">
                <a:solidFill>
                  <a:schemeClr val="bg1"/>
                </a:solidFill>
                <a:latin typeface="Georgia" panose="02040502050405020303" pitchFamily="18" charset="0"/>
              </a:rPr>
              <a:t>a = (“Kolkata”, “Rome”, “New York”, “London”, “Melbourne”). This represents a series of strings (names of cities). Or, </a:t>
            </a:r>
          </a:p>
          <a:p>
            <a:pPr marL="857250" lvl="1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en-US" sz="2200" dirty="0">
                <a:solidFill>
                  <a:schemeClr val="bg1"/>
                </a:solidFill>
                <a:latin typeface="Georgia" panose="02040502050405020303" pitchFamily="18" charset="0"/>
              </a:rPr>
              <a:t>b = (2, 3, 4, 5) – representing a series of numbers. </a:t>
            </a:r>
            <a:endParaRPr lang="en-US" altLang="en-US" sz="2200" dirty="0" smtClean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A </a:t>
            </a:r>
            <a:r>
              <a:rPr lang="en-US" alt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list</a:t>
            </a:r>
            <a:r>
              <a:rPr lang="en-US" altLang="en-US" sz="2400" dirty="0">
                <a:latin typeface="Georgia" panose="02040502050405020303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is also </a:t>
            </a:r>
            <a:r>
              <a:rPr lang="en-US" alt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one dimensional, but it consists of a mixture of different types of data</a:t>
            </a: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. For example, </a:t>
            </a:r>
          </a:p>
          <a:p>
            <a:pPr marL="857250" lvl="1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en-US" sz="2200" dirty="0">
                <a:solidFill>
                  <a:schemeClr val="bg1"/>
                </a:solidFill>
                <a:latin typeface="Georgia" panose="02040502050405020303" pitchFamily="18" charset="0"/>
              </a:rPr>
              <a:t>c = (2, “London”, “YES”) is an example of a list, one that contains</a:t>
            </a:r>
            <a:r>
              <a:rPr lang="en-US" altLang="en-US" sz="2400" spc="10" dirty="0">
                <a:solidFill>
                  <a:srgbClr val="00B050"/>
                </a:solidFill>
                <a:latin typeface="Georgia" panose="02040502050405020303" pitchFamily="18" charset="0"/>
              </a:rPr>
              <a:t> </a:t>
            </a:r>
            <a:r>
              <a:rPr lang="en-US" altLang="en-US" sz="2400" spc="10" dirty="0">
                <a:solidFill>
                  <a:srgbClr val="FFC000"/>
                </a:solidFill>
                <a:latin typeface="Georgia" panose="02040502050405020303" pitchFamily="18" charset="0"/>
              </a:rPr>
              <a:t>a number, a string, and a logical YES in it</a:t>
            </a:r>
            <a:r>
              <a:rPr lang="en-US" altLang="en-US" sz="2400" spc="10" dirty="0">
                <a:solidFill>
                  <a:srgbClr val="00B050"/>
                </a:solidFill>
                <a:latin typeface="Georgia" panose="02040502050405020303" pitchFamily="18" charset="0"/>
              </a:rPr>
              <a:t>.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A </a:t>
            </a:r>
            <a:r>
              <a:rPr lang="en-US" alt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matrix</a:t>
            </a:r>
            <a:r>
              <a:rPr lang="en-US" altLang="en-US" sz="2400" dirty="0">
                <a:latin typeface="Georgia" panose="02040502050405020303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is</a:t>
            </a:r>
            <a:r>
              <a:rPr lang="en-US" altLang="en-US" sz="2400" dirty="0">
                <a:latin typeface="Georgia" panose="02040502050405020303" pitchFamily="18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two dimensional</a:t>
            </a:r>
            <a:r>
              <a:rPr lang="en-US" altLang="en-US" sz="2400" dirty="0">
                <a:latin typeface="Georgia" panose="02040502050405020303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(or at least n dimensional) that contains </a:t>
            </a:r>
            <a:r>
              <a:rPr lang="en-US" alt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only one type of data</a:t>
            </a: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 in it.</a:t>
            </a:r>
          </a:p>
          <a:p>
            <a:pPr marL="457200" indent="-457200" algn="just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A </a:t>
            </a:r>
            <a:r>
              <a:rPr lang="en-US" alt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data frame</a:t>
            </a:r>
            <a:r>
              <a:rPr lang="en-US" altLang="en-US" sz="2400" dirty="0">
                <a:latin typeface="Georgia" panose="02040502050405020303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is a </a:t>
            </a:r>
            <a:r>
              <a:rPr lang="en-US" alt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two dimensional</a:t>
            </a:r>
            <a:r>
              <a:rPr lang="en-US" altLang="en-US" sz="2400" dirty="0">
                <a:solidFill>
                  <a:srgbClr val="00B050"/>
                </a:solidFill>
                <a:latin typeface="Georgia" panose="02040502050405020303" pitchFamily="18" charset="0"/>
              </a:rPr>
              <a:t> </a:t>
            </a:r>
            <a:r>
              <a:rPr lang="en-US" alt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( or n dimensional) entity that contains</a:t>
            </a:r>
            <a:r>
              <a:rPr lang="en-US" altLang="en-US" sz="2400" dirty="0">
                <a:solidFill>
                  <a:srgbClr val="00B050"/>
                </a:solidFill>
                <a:latin typeface="Georgia" panose="02040502050405020303" pitchFamily="18" charset="0"/>
              </a:rPr>
              <a:t> </a:t>
            </a:r>
            <a:r>
              <a:rPr lang="en-US" alt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mix of different data types in it</a:t>
            </a:r>
            <a:r>
              <a:rPr lang="en-US" alt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.</a:t>
            </a:r>
            <a:endParaRPr lang="en-US" altLang="en-US" sz="2400" dirty="0">
              <a:latin typeface="Georgia" panose="02040502050405020303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9959343" y="4046537"/>
            <a:ext cx="3581400" cy="365125"/>
          </a:xfrm>
        </p:spPr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A6915A3-AC02-48F5-AA30-1F02FE3F8AE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179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609" y="57403"/>
            <a:ext cx="11376838" cy="740026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Georgia" panose="02040502050405020303" pitchFamily="18" charset="0"/>
              </a:rPr>
              <a:t>Introduction to R</a:t>
            </a:r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488" y="797429"/>
            <a:ext cx="11270512" cy="6060571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R is a </a:t>
            </a:r>
            <a:r>
              <a:rPr 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programming language</a:t>
            </a:r>
            <a:r>
              <a:rPr lang="en-US" sz="2400" dirty="0">
                <a:latin typeface="Georgia" panose="02040502050405020303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and</a:t>
            </a:r>
            <a:r>
              <a:rPr lang="en-US" sz="2400" dirty="0">
                <a:latin typeface="Georgia" panose="02040502050405020303" pitchFamily="18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software environment</a:t>
            </a:r>
            <a:r>
              <a:rPr lang="en-US" sz="2400" dirty="0">
                <a:latin typeface="Georgia" panose="02040502050405020303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for statistical analysis, graphics representation and </a:t>
            </a:r>
            <a:r>
              <a:rPr 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reporting.</a:t>
            </a:r>
            <a:endParaRPr lang="en-US" sz="24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R was created by </a:t>
            </a:r>
            <a:r>
              <a:rPr 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Ross </a:t>
            </a:r>
            <a:r>
              <a:rPr lang="en-US" sz="2400" dirty="0" err="1">
                <a:solidFill>
                  <a:srgbClr val="FFC000"/>
                </a:solidFill>
                <a:latin typeface="Georgia" panose="02040502050405020303" pitchFamily="18" charset="0"/>
              </a:rPr>
              <a:t>Ihaka</a:t>
            </a:r>
            <a:r>
              <a:rPr 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and</a:t>
            </a:r>
            <a:r>
              <a:rPr lang="en-US" sz="2400" dirty="0">
                <a:latin typeface="Georgia" panose="02040502050405020303" pitchFamily="18" charset="0"/>
              </a:rPr>
              <a:t> </a:t>
            </a:r>
            <a:r>
              <a:rPr 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Robert Gentleman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 at the University of Auckland, New Zealand, and is currently developed by the R Development Core </a:t>
            </a:r>
            <a:r>
              <a:rPr 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Team.</a:t>
            </a:r>
            <a:endParaRPr lang="en-US" sz="24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R is the </a:t>
            </a:r>
            <a:r>
              <a:rPr 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modern implementation of S</a:t>
            </a:r>
            <a:r>
              <a:rPr lang="en-US" sz="2400" dirty="0">
                <a:latin typeface="Georgia" panose="02040502050405020303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(Statistical Programing Language</a:t>
            </a:r>
            <a:r>
              <a:rPr 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).</a:t>
            </a:r>
            <a:endParaRPr lang="en-US" sz="100" dirty="0">
              <a:latin typeface="Georgia" panose="02040502050405020303" pitchFamily="18" charset="0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This programming language was </a:t>
            </a:r>
            <a:r>
              <a:rPr 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named R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, based on the first letter of first name of the two R authors (Robert Gentleman and Ross </a:t>
            </a:r>
            <a:r>
              <a:rPr lang="en-US" sz="2400" dirty="0" err="1">
                <a:solidFill>
                  <a:schemeClr val="bg1"/>
                </a:solidFill>
                <a:latin typeface="Georgia" panose="02040502050405020303" pitchFamily="18" charset="0"/>
              </a:rPr>
              <a:t>Ihaka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), and partly a play on the name of the Bell Labs Language 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9959343" y="4046537"/>
            <a:ext cx="3581400" cy="365125"/>
          </a:xfrm>
        </p:spPr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A6915A3-AC02-48F5-AA30-1F02FE3F8AE0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102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609" y="57403"/>
            <a:ext cx="11376838" cy="740026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Georgia" panose="02040502050405020303" pitchFamily="18" charset="0"/>
              </a:rPr>
              <a:t>R - Installation</a:t>
            </a:r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488" y="797429"/>
            <a:ext cx="11270512" cy="606057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Georgia" panose="02040502050405020303" pitchFamily="18" charset="0"/>
              </a:rPr>
              <a:t>Installing </a:t>
            </a:r>
            <a:r>
              <a:rPr lang="en-US" sz="2400" b="1" dirty="0" smtClean="0">
                <a:solidFill>
                  <a:schemeClr val="bg1"/>
                </a:solidFill>
                <a:latin typeface="Georgia" panose="02040502050405020303" pitchFamily="18" charset="0"/>
              </a:rPr>
              <a:t>R</a:t>
            </a:r>
            <a:endParaRPr lang="en-US" sz="24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 To 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install R to work on your own computer, you can download it freely from the </a:t>
            </a:r>
            <a:r>
              <a:rPr lang="en-US" sz="2400" i="1" dirty="0">
                <a:solidFill>
                  <a:srgbClr val="FFC000"/>
                </a:solidFill>
                <a:latin typeface="Georgia" panose="02040502050405020303" pitchFamily="18" charset="0"/>
              </a:rPr>
              <a:t>Comprehensive R Archive Network</a:t>
            </a:r>
            <a:r>
              <a:rPr 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 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(CRAN).</a:t>
            </a:r>
            <a:r>
              <a:rPr lang="en-US" sz="2400" dirty="0">
                <a:latin typeface="Georgia" panose="02040502050405020303" pitchFamily="18" charset="0"/>
              </a:rPr>
              <a:t>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 smtClean="0">
                <a:latin typeface="Georgia" panose="02040502050405020303" pitchFamily="18" charset="0"/>
              </a:rPr>
              <a:t> </a:t>
            </a:r>
            <a:r>
              <a:rPr lang="en-US" sz="2400" dirty="0" smtClean="0">
                <a:latin typeface="Georgia" panose="02040502050405020303" pitchFamily="18" charset="0"/>
                <a:hlinkClick r:id="rId2"/>
              </a:rPr>
              <a:t>https</a:t>
            </a:r>
            <a:r>
              <a:rPr lang="en-US" sz="2400" dirty="0">
                <a:latin typeface="Georgia" panose="02040502050405020303" pitchFamily="18" charset="0"/>
                <a:hlinkClick r:id="rId2"/>
              </a:rPr>
              <a:t>://cran.r-project.org</a:t>
            </a:r>
            <a:r>
              <a:rPr lang="en-US" sz="2400" dirty="0" smtClean="0">
                <a:latin typeface="Georgia" panose="02040502050405020303" pitchFamily="18" charset="0"/>
                <a:hlinkClick r:id="rId2"/>
              </a:rPr>
              <a:t>/</a:t>
            </a:r>
            <a:r>
              <a:rPr lang="en-US" sz="2400" dirty="0" smtClean="0">
                <a:latin typeface="Georgia" panose="02040502050405020303" pitchFamily="18" charset="0"/>
              </a:rPr>
              <a:t> </a:t>
            </a:r>
            <a:endParaRPr lang="en-US" sz="100" b="1" dirty="0">
              <a:latin typeface="Georgia" panose="02040502050405020303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400" b="1" dirty="0">
                <a:solidFill>
                  <a:schemeClr val="bg1"/>
                </a:solidFill>
                <a:latin typeface="Georgia" panose="02040502050405020303" pitchFamily="18" charset="0"/>
              </a:rPr>
              <a:t>Installing </a:t>
            </a:r>
            <a:r>
              <a:rPr lang="en-US" sz="2400" b="1" dirty="0" err="1" smtClean="0">
                <a:solidFill>
                  <a:schemeClr val="bg1"/>
                </a:solidFill>
                <a:latin typeface="Georgia" panose="02040502050405020303" pitchFamily="18" charset="0"/>
              </a:rPr>
              <a:t>RStudio</a:t>
            </a:r>
            <a:endParaRPr lang="en-US" sz="100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Georgia" panose="02040502050405020303" pitchFamily="18" charset="0"/>
              </a:rPr>
              <a:t>RStudio</a:t>
            </a:r>
            <a:r>
              <a:rPr 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is an </a:t>
            </a:r>
            <a:r>
              <a:rPr lang="en-US" sz="2400" i="1" dirty="0">
                <a:solidFill>
                  <a:srgbClr val="FFC000"/>
                </a:solidFill>
                <a:latin typeface="Georgia" panose="02040502050405020303" pitchFamily="18" charset="0"/>
              </a:rPr>
              <a:t>integrated development environment</a:t>
            </a:r>
            <a:r>
              <a:rPr lang="en-US" sz="2400" dirty="0">
                <a:solidFill>
                  <a:srgbClr val="FFC000"/>
                </a:solidFill>
                <a:latin typeface="Georgia" panose="02040502050405020303" pitchFamily="18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(IDE</a:t>
            </a:r>
            <a:r>
              <a:rPr 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).</a:t>
            </a:r>
            <a:endParaRPr lang="en-US" sz="100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 It 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is recommend installing and using </a:t>
            </a:r>
            <a:r>
              <a:rPr lang="en-US" sz="2400" dirty="0" err="1">
                <a:solidFill>
                  <a:schemeClr val="bg1"/>
                </a:solidFill>
                <a:latin typeface="Georgia" panose="02040502050405020303" pitchFamily="18" charset="0"/>
              </a:rPr>
              <a:t>RStudio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 to edit and test your code. You can install </a:t>
            </a:r>
            <a:r>
              <a:rPr lang="en-US" sz="2400" dirty="0" err="1">
                <a:solidFill>
                  <a:schemeClr val="bg1"/>
                </a:solidFill>
                <a:latin typeface="Georgia" panose="02040502050405020303" pitchFamily="18" charset="0"/>
              </a:rPr>
              <a:t>RStudio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 through the </a:t>
            </a:r>
            <a:r>
              <a:rPr lang="en-US" sz="2400" dirty="0" err="1">
                <a:solidFill>
                  <a:schemeClr val="bg1"/>
                </a:solidFill>
                <a:latin typeface="Georgia" panose="02040502050405020303" pitchFamily="18" charset="0"/>
              </a:rPr>
              <a:t>RStudio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 website.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Georgia" panose="02040502050405020303" pitchFamily="18" charset="0"/>
              </a:rPr>
              <a:t> </a:t>
            </a:r>
            <a:r>
              <a:rPr lang="en-US" sz="2400" dirty="0" smtClean="0">
                <a:latin typeface="Georgia" panose="02040502050405020303" pitchFamily="18" charset="0"/>
                <a:hlinkClick r:id="rId3"/>
              </a:rPr>
              <a:t>https</a:t>
            </a:r>
            <a:r>
              <a:rPr lang="en-US" sz="2400" dirty="0">
                <a:latin typeface="Georgia" panose="02040502050405020303" pitchFamily="18" charset="0"/>
                <a:hlinkClick r:id="rId3"/>
              </a:rPr>
              <a:t>://rstudio.com/products/rstudio/download</a:t>
            </a:r>
            <a:r>
              <a:rPr lang="en-US" sz="2400" dirty="0" smtClean="0">
                <a:latin typeface="Georgia" panose="02040502050405020303" pitchFamily="18" charset="0"/>
                <a:hlinkClick r:id="rId3"/>
              </a:rPr>
              <a:t>/</a:t>
            </a:r>
            <a:r>
              <a:rPr lang="en-US" sz="2400" dirty="0" smtClean="0">
                <a:latin typeface="Georgia" panose="02040502050405020303" pitchFamily="18" charset="0"/>
              </a:rPr>
              <a:t> </a:t>
            </a:r>
            <a:endParaRPr lang="en-US" sz="100" dirty="0">
              <a:latin typeface="Georgia" panose="02040502050405020303" pitchFamily="18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400" dirty="0" smtClean="0">
                <a:solidFill>
                  <a:schemeClr val="bg1"/>
                </a:solidFill>
                <a:latin typeface="Georgia" panose="02040502050405020303" pitchFamily="18" charset="0"/>
              </a:rPr>
              <a:t> You </a:t>
            </a:r>
            <a:r>
              <a:rPr lang="en-US" sz="2400" dirty="0">
                <a:solidFill>
                  <a:schemeClr val="bg1"/>
                </a:solidFill>
                <a:latin typeface="Georgia" panose="02040502050405020303" pitchFamily="18" charset="0"/>
              </a:rPr>
              <a:t>must install R before installing </a:t>
            </a:r>
            <a:r>
              <a:rPr lang="en-US" sz="2400" dirty="0" err="1">
                <a:solidFill>
                  <a:schemeClr val="bg1"/>
                </a:solidFill>
                <a:latin typeface="Georgia" panose="02040502050405020303" pitchFamily="18" charset="0"/>
              </a:rPr>
              <a:t>RStudio</a:t>
            </a:r>
            <a:endParaRPr lang="en-US" sz="24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9959343" y="4046537"/>
            <a:ext cx="3581400" cy="365125"/>
          </a:xfrm>
        </p:spPr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A6915A3-AC02-48F5-AA30-1F02FE3F8AE0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734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609" y="57403"/>
            <a:ext cx="11376838" cy="740026"/>
          </a:xfrm>
        </p:spPr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bg1"/>
                </a:solidFill>
                <a:latin typeface="Georgia" panose="02040502050405020303" pitchFamily="18" charset="0"/>
              </a:rPr>
              <a:t>RStudio</a:t>
            </a:r>
            <a:r>
              <a:rPr lang="en-US" dirty="0" smtClean="0">
                <a:solidFill>
                  <a:schemeClr val="bg1"/>
                </a:solidFill>
                <a:latin typeface="Georgia" panose="02040502050405020303" pitchFamily="18" charset="0"/>
              </a:rPr>
              <a:t> (Dashboard / IDE) </a:t>
            </a:r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 rot="16200000">
            <a:off x="9959343" y="4046537"/>
            <a:ext cx="3581400" cy="365125"/>
          </a:xfrm>
        </p:spPr>
        <p:txBody>
          <a:bodyPr/>
          <a:lstStyle/>
          <a:p>
            <a:r>
              <a:rPr lang="en-GB" smtClean="0"/>
              <a:t>muhammad_ali@umt.edu.pk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2A6915A3-AC02-48F5-AA30-1F02FE3F8AE0}" type="slidenum">
              <a:rPr lang="en-GB" smtClean="0"/>
              <a:pPr/>
              <a:t>5</a:t>
            </a:fld>
            <a:endParaRPr lang="en-GB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662983"/>
              </p:ext>
            </p:extLst>
          </p:nvPr>
        </p:nvGraphicFramePr>
        <p:xfrm>
          <a:off x="1777584" y="1523391"/>
          <a:ext cx="8480888" cy="3922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0444"/>
                <a:gridCol w="4240444"/>
              </a:tblGrid>
              <a:tr h="1961423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dirty="0" smtClean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SOURCE (Script Editor)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Where you write, edit, and</a:t>
                      </a:r>
                      <a:r>
                        <a:rPr lang="en-US" b="0" baseline="0" dirty="0" smtClean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pt-BR" b="0" dirty="0" smtClean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save your R code files (.R).</a:t>
                      </a:r>
                      <a:endParaRPr lang="en-US" b="0" dirty="0" smtClean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2. ENVIRONMENT </a:t>
                      </a:r>
                    </a:p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Shows saved tables, vectors, DNA sequences, and variables.</a:t>
                      </a:r>
                      <a:endParaRPr lang="en-US" b="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1961423"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Georgia" panose="02040502050405020303" pitchFamily="18" charset="0"/>
                        </a:rPr>
                        <a:t>3. CONSOLE </a:t>
                      </a:r>
                    </a:p>
                    <a:p>
                      <a:r>
                        <a:rPr lang="en-US" dirty="0" smtClean="0">
                          <a:latin typeface="Georgia" panose="02040502050405020303" pitchFamily="18" charset="0"/>
                        </a:rPr>
                        <a:t>Where R actually executes code and prints the direct output.</a:t>
                      </a:r>
                      <a:endParaRPr lang="en-US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 smtClean="0">
                          <a:latin typeface="Georgia" panose="02040502050405020303" pitchFamily="18" charset="0"/>
                        </a:rPr>
                        <a:t>4. FILES / PLOTS / HELP</a:t>
                      </a:r>
                      <a:r>
                        <a:rPr lang="en-US" dirty="0" smtClean="0">
                          <a:latin typeface="Georgia" panose="02040502050405020303" pitchFamily="18" charset="0"/>
                        </a:rPr>
                        <a:t> </a:t>
                      </a:r>
                    </a:p>
                    <a:p>
                      <a:r>
                        <a:rPr lang="en-US" dirty="0" smtClean="0">
                          <a:latin typeface="Georgia" panose="02040502050405020303" pitchFamily="18" charset="0"/>
                        </a:rPr>
                        <a:t>Displays generated graphs, </a:t>
                      </a:r>
                    </a:p>
                    <a:p>
                      <a:r>
                        <a:rPr lang="en-US" dirty="0" smtClean="0">
                          <a:latin typeface="Georgia" panose="02040502050405020303" pitchFamily="18" charset="0"/>
                        </a:rPr>
                        <a:t>folder directories, and help. </a:t>
                      </a:r>
                      <a:endParaRPr lang="en-US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446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2994486"/>
            <a:ext cx="9418320" cy="605528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3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3272</TotalTime>
  <Words>387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Century Schoolbook</vt:lpstr>
      <vt:lpstr>Georgia</vt:lpstr>
      <vt:lpstr>Times New Roman</vt:lpstr>
      <vt:lpstr>Wingdings</vt:lpstr>
      <vt:lpstr>Wingdings 2</vt:lpstr>
      <vt:lpstr>View</vt:lpstr>
      <vt:lpstr>R Basics</vt:lpstr>
      <vt:lpstr>Data Structure</vt:lpstr>
      <vt:lpstr>Introduction to R</vt:lpstr>
      <vt:lpstr>R - Installation</vt:lpstr>
      <vt:lpstr>RStudio (Dashboard / IDE) </vt:lpstr>
      <vt:lpstr>Thanks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 ITEMS Board of Governors Meeting # 31</dc:title>
  <dc:creator>Hamid Asif</dc:creator>
  <cp:lastModifiedBy>Microsoft account</cp:lastModifiedBy>
  <cp:revision>718</cp:revision>
  <dcterms:created xsi:type="dcterms:W3CDTF">2023-03-31T10:29:28Z</dcterms:created>
  <dcterms:modified xsi:type="dcterms:W3CDTF">2026-10-02T14:37:17Z</dcterms:modified>
</cp:coreProperties>
</file>